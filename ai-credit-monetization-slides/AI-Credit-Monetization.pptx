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4206240" cy="4206240"/>
          </a:xfrm>
          <a:prstGeom prst="ellipse">
            <a:avLst/>
          </a:prstGeom>
          <a:solidFill>
            <a:srgbClr val="20224A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3108960"/>
            <a:ext cx="2743200" cy="2743200"/>
          </a:xfrm>
          <a:prstGeom prst="ellipse">
            <a:avLst/>
          </a:prstGeom>
          <a:solidFill>
            <a:srgbClr val="5B5FD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731520" cy="7315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83027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RESEARCH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874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Monetizing Consumption AI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66928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End-of-funnel tactics &amp; value demonstration in credit-based B2B SaaS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6928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credit / consumption AI products analyzed   </a:t>
            </a:r>
            <a:pPr indent="0" marL="0">
              <a:buNone/>
            </a:pPr>
            <a:r>
              <a:rPr lang="en-US" sz="1100" dirty="0">
                <a:solidFill>
                  <a:srgbClr val="6F7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app builders  ·  media gen  ·  horizontal SaaS  ·  AI writing &amp; infra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F7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date 2026-06-02  ·  sources: official pricing / help / docs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5B5FD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5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THIS DECK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5852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questions, two playbooks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4069080" cy="2743200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17320"/>
            <a:ext cx="4069080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Shape 5"/>
          <p:cNvSpPr/>
          <p:nvPr/>
        </p:nvSpPr>
        <p:spPr>
          <a:xfrm>
            <a:off x="694944" y="16916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0" y="183428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17099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371600" y="192938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 revenue at the run-out moment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31520" y="27889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Out-of-credits modals &amp; paywalls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Auto-recharge / auto-reload flows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Top-up, overage &amp; rollover mechanics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617720" y="1417320"/>
            <a:ext cx="4069080" cy="2743200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17720" y="1417320"/>
            <a:ext cx="4069080" cy="82296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5" name="Shape 11"/>
          <p:cNvSpPr/>
          <p:nvPr/>
        </p:nvSpPr>
        <p:spPr>
          <a:xfrm>
            <a:off x="4855464" y="169164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110" y="18342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32120" y="17099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9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532120" y="192938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value to the budget owner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892040" y="27889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credit = a unit of real work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consumption dashboards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/ hours-saved framing &amp; alerts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solidFill>
            <a:srgbClr val="12132A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Thesis:  </a:t>
            </a:r>
            <a:pPr algn="l" indent="0" marL="0">
              <a:buNone/>
            </a:pPr>
            <a:r>
              <a:rPr lang="en-US" sz="1100" dirty="0">
                <a:solidFill>
                  <a:srgbClr val="E8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block is dying. Revenue is made at peak intent — and the buyer says yes only when credits visibly equal work done.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2743200"/>
            <a:ext cx="3840480" cy="3840480"/>
          </a:xfrm>
          <a:prstGeom prst="ellipse">
            <a:avLst/>
          </a:prstGeom>
          <a:solidFill>
            <a:srgbClr val="20224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25880"/>
            <a:ext cx="822960" cy="82296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153985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21792" y="2606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Out-of-credits modals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auto-recharge flows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58368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block is dying. The money is made at peak intent — mid-task, out of credits — by removing friction, not adding 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· THE RUN-OUT MOMENT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5852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behaviors at zero — choose deliberately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029968" cy="2505456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71600"/>
            <a:ext cx="2029968" cy="7315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" y="159105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9928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58368" y="1591056"/>
            <a:ext cx="457200" cy="457200"/>
          </a:xfrm>
          <a:prstGeom prst="ellipse">
            <a:avLst/>
          </a:prstGeom>
          <a:ln w="19050">
            <a:solidFill>
              <a:srgbClr val="00C2A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188720" y="164592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40080" y="2121408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Soft-continue → bill overage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0080" y="2706624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never stops; usage billed in arrears. Captures peak intent with zero friction.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40080" y="345643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· Copilot · v0 · Replit · Zapier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2596896" y="1371600"/>
            <a:ext cx="2029968" cy="2505456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596896" y="1371600"/>
            <a:ext cx="2029968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Shape 13"/>
          <p:cNvSpPr/>
          <p:nvPr/>
        </p:nvSpPr>
        <p:spPr>
          <a:xfrm>
            <a:off x="2798064" y="159105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936" y="1709928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2798064" y="1591056"/>
            <a:ext cx="457200" cy="457200"/>
          </a:xfrm>
          <a:prstGeom prst="ellipse">
            <a:avLst/>
          </a:prstGeom>
          <a:ln w="19050">
            <a:solidFill>
              <a:srgbClr val="F5A62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779776" y="2121408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pause → upgrade / wait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2779776" y="2706624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blocked until top-up or reset. Forces the upgrade — higher churn risk.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2779776" y="345643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Synthesia · HubSpot · Intercom · Gamma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4736592" y="1371600"/>
            <a:ext cx="2029968" cy="2505456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36592" y="1371600"/>
            <a:ext cx="2029968" cy="73152"/>
          </a:xfrm>
          <a:prstGeom prst="rect">
            <a:avLst/>
          </a:prstGeom>
          <a:solidFill>
            <a:srgbClr val="5B5FD6"/>
          </a:solidFill>
          <a:ln/>
        </p:spPr>
      </p:sp>
      <p:sp>
        <p:nvSpPr>
          <p:cNvPr id="25" name="Shape 20"/>
          <p:cNvSpPr/>
          <p:nvPr/>
        </p:nvSpPr>
        <p:spPr>
          <a:xfrm>
            <a:off x="4937760" y="159105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1709928"/>
            <a:ext cx="219456" cy="219456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4937760" y="1591056"/>
            <a:ext cx="457200" cy="457200"/>
          </a:xfrm>
          <a:prstGeom prst="ellipse">
            <a:avLst/>
          </a:prstGeom>
          <a:ln w="19050">
            <a:solidFill>
              <a:srgbClr val="5B5FD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919472" y="2121408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Degraded-but-free fallback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919472" y="2706624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Drops to a slow / limited free mode. Monetizes speed, not access — zero churn.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919472" y="345643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Midjourney (Relax) · Runway (Explore)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6876288" y="1371600"/>
            <a:ext cx="2029968" cy="2505456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876288" y="1371600"/>
            <a:ext cx="2029968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Shape 27"/>
          <p:cNvSpPr/>
          <p:nvPr/>
        </p:nvSpPr>
        <p:spPr>
          <a:xfrm>
            <a:off x="7077456" y="159105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1709928"/>
            <a:ext cx="219456" cy="219456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7077456" y="1591056"/>
            <a:ext cx="457200" cy="457200"/>
          </a:xfrm>
          <a:prstGeom prst="ellipse">
            <a:avLst/>
          </a:prstGeom>
          <a:ln w="19050">
            <a:solidFill>
              <a:srgbClr val="C0392B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059168" y="2121408"/>
            <a:ext cx="17007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Auto-upgrade to higher tier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7059168" y="2706624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Exceeding limit silently bumps you up for the rest of contract. Aggressive, opaque.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7059168" y="345643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 (once packs bought)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457200" y="4114800"/>
            <a:ext cx="8229600" cy="420624"/>
          </a:xfrm>
          <a:prstGeom prst="rect">
            <a:avLst/>
          </a:prstGeom>
          <a:solidFill>
            <a:srgbClr val="12132A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457200" y="4114800"/>
            <a:ext cx="82296" cy="42062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1" name="Text 34"/>
          <p:cNvSpPr/>
          <p:nvPr/>
        </p:nvSpPr>
        <p:spPr>
          <a:xfrm>
            <a:off x="658368" y="411480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</a:t>
            </a:r>
            <a:pPr indent="0" marL="0">
              <a:buNone/>
            </a:pPr>
            <a:r>
              <a:rPr lang="en-US" sz="1050" dirty="0">
                <a:solidFill>
                  <a:srgbClr val="E8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block is increasingly an admin-configurable safety (Copilot, Replit) — not the product default.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Behaviors observed on official pricing/docs pages across all four clusters.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· THE PAYWALL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5852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user actually sees at zero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38404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5D8E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17320"/>
            <a:ext cx="3840480" cy="457200"/>
          </a:xfrm>
          <a:prstGeom prst="rect">
            <a:avLst/>
          </a:prstGeom>
          <a:solidFill>
            <a:srgbClr val="12132A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You're out of credits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020824"/>
            <a:ext cx="3474720" cy="566928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2075688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Wait for your next cycle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" y="2313432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reset monthly — no charge.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40080" y="2697480"/>
            <a:ext cx="3474720" cy="566928"/>
          </a:xfrm>
          <a:prstGeom prst="rect">
            <a:avLst/>
          </a:prstGeom>
          <a:solidFill>
            <a:srgbClr val="EAF8F5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2752344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Keep working with paid usage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8096" y="2990088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$ budget. “a $10 budget covers 1,000 credits.”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40080" y="3374136"/>
            <a:ext cx="3474720" cy="566928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" y="342900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Switch to a less expensive model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8096" y="3666744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remaining budget further.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57200" y="41970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— reconstructed from docs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572000" y="1417320"/>
            <a:ext cx="4114800" cy="585216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0" y="1417320"/>
            <a:ext cx="64008" cy="58521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1417320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HeyGen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43600" y="1453896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exhausting premium credits a pop-up offers credit packs: “select packs &amp; complete purchase to continue creating.”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0" y="2093976"/>
            <a:ext cx="4114800" cy="585216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0" y="2093976"/>
            <a:ext cx="64008" cy="585216"/>
          </a:xfrm>
          <a:prstGeom prst="rect">
            <a:avLst/>
          </a:prstGeom>
          <a:solidFill>
            <a:srgbClr val="5B5FD6"/>
          </a:solidFill>
          <a:ln/>
        </p:spPr>
      </p:sp>
      <p:sp>
        <p:nvSpPr>
          <p:cNvPr id="25" name="Text 22"/>
          <p:cNvSpPr/>
          <p:nvPr/>
        </p:nvSpPr>
        <p:spPr>
          <a:xfrm>
            <a:off x="4754880" y="2093976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Lovable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943600" y="2130552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In-chat low-credit alert fires before zero — the nudge is the upsell trigger.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0" y="2770632"/>
            <a:ext cx="4114800" cy="585216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0" y="2770632"/>
            <a:ext cx="64008" cy="585216"/>
          </a:xfrm>
          <a:prstGeom prst="rect">
            <a:avLst/>
          </a:prstGeom>
          <a:solidFill>
            <a:srgbClr val="5B5FD6"/>
          </a:solidFill>
          <a:ln/>
        </p:spPr>
      </p:sp>
      <p:sp>
        <p:nvSpPr>
          <p:cNvPr id="29" name="Text 26"/>
          <p:cNvSpPr/>
          <p:nvPr/>
        </p:nvSpPr>
        <p:spPr>
          <a:xfrm>
            <a:off x="4754880" y="2770632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 (Vercel)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943600" y="280720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“When credits are used up, generation pauses” — soft stop, then buy more.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572000" y="3447288"/>
            <a:ext cx="4114800" cy="585216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72000" y="3447288"/>
            <a:ext cx="64008" cy="5852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30"/>
          <p:cNvSpPr/>
          <p:nvPr/>
        </p:nvSpPr>
        <p:spPr>
          <a:xfrm>
            <a:off x="4754880" y="3447288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(admin)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943600" y="348386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Admins can disallow paid usage → “Copilot pauses until the next cycle.”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Verbatim modal copy is not published publicly — reconstructed from official docs. Live screen-capture available on request.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· THE FRONTIER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5852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Auto-recharge: remove the run-out moment entirely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— “Auto Top Up”  </a:t>
            </a:r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best-in-class in the application layer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682496"/>
            <a:ext cx="1965960" cy="1060704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3504" y="179222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03504" y="197510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&lt; $10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3504" y="228600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Low-balance threshold trips automatically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423160" y="1682496"/>
            <a:ext cx="2011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624328" y="1682496"/>
            <a:ext cx="1965960" cy="1060704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770632" y="179222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5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770632" y="197510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saved card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770632" y="228600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user action — runs in the background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90288" y="1682496"/>
            <a:ext cx="2011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791456" y="1682496"/>
            <a:ext cx="1965960" cy="1060704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937760" y="179222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937760" y="197510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Reload +$20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37760" y="228600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top-up amount, configurable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757416" y="1682496"/>
            <a:ext cx="2011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958584" y="1682496"/>
            <a:ext cx="1965960" cy="1060704"/>
          </a:xfrm>
          <a:prstGeom prst="rect">
            <a:avLst/>
          </a:prstGeom>
          <a:solidFill>
            <a:srgbClr val="FDF3E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104888" y="179222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104888" y="197510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→ pause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104888" y="228600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pauses only if the charge fails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" y="2999232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3504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&amp; Anthropic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03504" y="338328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prepaid auto-recharge: “when balance &lt; $X, refill to $Y.”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236976" y="2999232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383280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HeyGen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383280" y="338328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Auto-renewing add-on packs approximate auto-reload.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016752" y="2999232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63056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Atlassian Rovo Dev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163056" y="338328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Auto-overage ON by default — extra 2,000 credits/user at $0.01 each.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57200" y="4160520"/>
            <a:ext cx="8229600" cy="420624"/>
          </a:xfrm>
          <a:prstGeom prst="rect">
            <a:avLst/>
          </a:prstGeom>
          <a:solidFill>
            <a:srgbClr val="12132A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57200" y="4160520"/>
            <a:ext cx="82296" cy="42062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7" name="Text 34"/>
          <p:cNvSpPr/>
          <p:nvPr/>
        </p:nvSpPr>
        <p:spPr>
          <a:xfrm>
            <a:off x="658368" y="416052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</a:t>
            </a:r>
            <a:pPr indent="0" marL="0">
              <a:buNone/>
            </a:pPr>
            <a:r>
              <a:rPr lang="en-US" sz="1050" dirty="0">
                <a:solidFill>
                  <a:srgbClr val="E8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highest-leverage end-of-funnel mechanic — and the least adopted in the application layer.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defaults per official PAYG docs. OpenAI/Anthropic exact UI values sit behind login — capture available.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· THE MECHANICS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5852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Top-up, overage &amp; rollover — engineered to be sticky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743200" cy="1243584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71600"/>
            <a:ext cx="73152" cy="1243584"/>
          </a:xfrm>
          <a:prstGeom prst="rect">
            <a:avLst/>
          </a:prstGeom>
          <a:solidFill>
            <a:srgbClr val="5B5FD6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48132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instant top-up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8368" y="1773936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table stakes — buy credits in-app, applied immediately.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232257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Lovable · v0 · Replit · HeyGen · ElevenLabs · Clay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319272" y="1371600"/>
            <a:ext cx="2743200" cy="1243584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19272" y="1371600"/>
            <a:ext cx="73152" cy="124358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3" name="Text 10"/>
          <p:cNvSpPr/>
          <p:nvPr/>
        </p:nvSpPr>
        <p:spPr>
          <a:xfrm>
            <a:off x="3520440" y="148132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“Used only after allowance”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520440" y="1773936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Top-ups consumed after monthly credits — feel like insurance, not waste.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520440" y="232257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· v0 · Descript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181344" y="1371600"/>
            <a:ext cx="2743200" cy="1243584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81344" y="1371600"/>
            <a:ext cx="73152" cy="124358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8" name="Text 15"/>
          <p:cNvSpPr/>
          <p:nvPr/>
        </p:nvSpPr>
        <p:spPr>
          <a:xfrm>
            <a:off x="6382512" y="148132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expiry pre-commits cash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382512" y="1773936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Purchased credits valid 12 months — locks in spend, kills waste anxiety.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382512" y="232257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· Descript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2743200"/>
            <a:ext cx="2743200" cy="1243584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743200"/>
            <a:ext cx="73152" cy="124358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0"/>
          <p:cNvSpPr/>
          <p:nvPr/>
        </p:nvSpPr>
        <p:spPr>
          <a:xfrm>
            <a:off x="658368" y="285292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top-up drives upsize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58368" y="3145536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Top-ups priced at a premium so upsizing the base plan is the rational move.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58368" y="369417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Clay (+30% on top-ups)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19272" y="2743200"/>
            <a:ext cx="2743200" cy="1243584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319272" y="2743200"/>
            <a:ext cx="73152" cy="124358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8" name="Text 25"/>
          <p:cNvSpPr/>
          <p:nvPr/>
        </p:nvSpPr>
        <p:spPr>
          <a:xfrm>
            <a:off x="3520440" y="285292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overage → hard ceiling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3520440" y="3145536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working at a premium rate, then a hard stop forces the upgrade talk.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520440" y="369417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Zapier (1.25× per task, stop at 3×)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181344" y="2743200"/>
            <a:ext cx="2743200" cy="1243584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181344" y="2743200"/>
            <a:ext cx="73152" cy="1243584"/>
          </a:xfrm>
          <a:prstGeom prst="rect">
            <a:avLst/>
          </a:prstGeom>
          <a:solidFill>
            <a:srgbClr val="5B5FD6"/>
          </a:solidFill>
          <a:ln/>
        </p:spPr>
      </p:sp>
      <p:sp>
        <p:nvSpPr>
          <p:cNvPr id="33" name="Text 30"/>
          <p:cNvSpPr/>
          <p:nvPr/>
        </p:nvSpPr>
        <p:spPr>
          <a:xfrm>
            <a:off x="6382512" y="285292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Non-rollover = scarcity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6382512" y="3145536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credits expire; rollover (if any) needs an active sub &amp; a clock.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382512" y="369417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Bolt 2mo · v0 65d · HubSpot “use-or-lose”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Mechanics confirmed on official pricing/help pages; a few rates via vendor-citing secondary sources.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· SUMMARY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5852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End-of-funnel cheat sheet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83080"/>
                <a:gridCol w="41605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Tactic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Steal from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specific mechanic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3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Frictionless run-out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5F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Cursor · Copilot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46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Soft-continue + “set a $ budget” menu; never downgrade quality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 auto-recharge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5F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ElevenLabs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46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Reload $X when balance &lt; $Y; pause only on a failed charge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Top-up that drives upsize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5F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46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+30% premium on top-ups makes upsizing the base plan rational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Sticky pre-paid credits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5F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ElevenLabs · Descript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46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“Used after allowance” ordering + 12-month expiry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Tiered overage → ceiling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5F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Zapier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46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1.25× per-task premium, then hard stop at 3× the limit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 cap as admin safety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5F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 · Replit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46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 is an opt-in admin control, not the default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Cross-company synthesis · Part A.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377440"/>
            <a:ext cx="4206240" cy="4206240"/>
          </a:xfrm>
          <a:prstGeom prst="ellipse">
            <a:avLst/>
          </a:prstGeom>
          <a:solidFill>
            <a:srgbClr val="20224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25880"/>
            <a:ext cx="822960" cy="8229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153985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21792" y="2606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Demonstrating the value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58368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everyone built a cost-control meter. Almost no one built a value surface. That gap is the opportunity.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 · THE FOUNDATION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5852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the credit = a unit of real work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4069080" cy="1874520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17320"/>
            <a:ext cx="82296" cy="18745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" y="1563624"/>
            <a:ext cx="3685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Intercom Fin  ·  $0.99 per resolution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4944" y="2020824"/>
            <a:ext cx="364845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Charged only when the customer's issue is actually resolved. If a “resolved” ticket re-opens — even across billing periods — the charge is clawed back.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94944" y="292608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Pitch: every dollar billed = one deflected human ticket.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1417320"/>
            <a:ext cx="4069080" cy="1874520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1417320"/>
            <a:ext cx="82296" cy="1874520"/>
          </a:xfrm>
          <a:prstGeom prst="rect">
            <a:avLst/>
          </a:prstGeom>
          <a:solidFill>
            <a:srgbClr val="5B5FD6"/>
          </a:solidFill>
          <a:ln/>
        </p:spPr>
      </p:sp>
      <p:sp>
        <p:nvSpPr>
          <p:cNvPr id="13" name="Text 10"/>
          <p:cNvSpPr/>
          <p:nvPr/>
        </p:nvSpPr>
        <p:spPr>
          <a:xfrm>
            <a:off x="4855464" y="1563624"/>
            <a:ext cx="3685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Agentforce  ·  $0.10 / action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855464" y="2020824"/>
            <a:ext cx="364845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Pivoted from $2 / conversation to per-action Flex Credits because “businesses faced a fundamental mismatch between pricing and value.”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855464" y="292608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Coarse → fine metering so the bill tracks real work.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3456432"/>
            <a:ext cx="8229600" cy="640080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45643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gen sells the deliverable, not the credit:  </a:t>
            </a:r>
            <a:pPr indent="0" marL="0">
              <a:buNone/>
            </a:pPr>
            <a:r>
              <a:rPr lang="en-US" sz="110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/ Synthesia / HeyGen = minutes · Runway = seconds · Midjourney = GPU hours.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4261104"/>
            <a:ext cx="8229600" cy="420624"/>
          </a:xfrm>
          <a:prstGeom prst="rect">
            <a:avLst/>
          </a:prstGeom>
          <a:solidFill>
            <a:srgbClr val="12132A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4261104"/>
            <a:ext cx="82296" cy="42062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" y="4261104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</a:t>
            </a:r>
            <a:pPr indent="0" marL="0">
              <a:buNone/>
            </a:pPr>
            <a:r>
              <a:rPr lang="en-US" sz="1050" dirty="0">
                <a:solidFill>
                  <a:srgbClr val="E8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monday: define the credit as a recognizable work artifact (a completed automation, an updated item) — never an opaque “AI action.”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 · THE SURFACE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5852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consumption dashboard + attribution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4023360" cy="1188720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17320"/>
            <a:ext cx="73152" cy="1188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8" name="Text 5"/>
          <p:cNvSpPr/>
          <p:nvPr/>
        </p:nvSpPr>
        <p:spPr>
          <a:xfrm>
            <a:off x="676656" y="1536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651760" y="1563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76656" y="18745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&amp; Limits → per-feature breakdown (“Manage Credit Usage by Feature”) + historical usage log.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1417320"/>
            <a:ext cx="4023360" cy="1188720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417320"/>
            <a:ext cx="73152" cy="1188720"/>
          </a:xfrm>
          <a:prstGeom prst="rect">
            <a:avLst/>
          </a:prstGeom>
          <a:solidFill>
            <a:srgbClr val="5B5FD6"/>
          </a:solidFill>
          <a:ln/>
        </p:spPr>
      </p:sp>
      <p:sp>
        <p:nvSpPr>
          <p:cNvPr id="13" name="Text 10"/>
          <p:cNvSpPr/>
          <p:nvPr/>
        </p:nvSpPr>
        <p:spPr>
          <a:xfrm>
            <a:off x="4882896" y="1536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0" y="1563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5B5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EXPORTABLE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882896" y="18745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credits per workspace + export .csv of consumption by feature / user / workspace (Insights tab).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2743200"/>
            <a:ext cx="4023360" cy="1188720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2743200"/>
            <a:ext cx="73152" cy="1188720"/>
          </a:xfrm>
          <a:prstGeom prst="rect">
            <a:avLst/>
          </a:prstGeom>
          <a:solidFill>
            <a:srgbClr val="5B5FD6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" y="28620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651760" y="28895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5B5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76656" y="32004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Per-member &amp; per-app consumption, budget-vs-spend, exportable reports for accounting.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63440" y="2743200"/>
            <a:ext cx="4023360" cy="1188720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2743200"/>
            <a:ext cx="73152" cy="1188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3" name="Text 20"/>
          <p:cNvSpPr/>
          <p:nvPr/>
        </p:nvSpPr>
        <p:spPr>
          <a:xfrm>
            <a:off x="4882896" y="28620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858000" y="28895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82896" y="32004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usage analytics + pooled team usage “to maximize budget efficiency.”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4261104"/>
            <a:ext cx="8229600" cy="420624"/>
          </a:xfrm>
          <a:prstGeom prst="rect">
            <a:avLst/>
          </a:prstGeom>
          <a:solidFill>
            <a:srgbClr val="12132A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" y="4261104"/>
            <a:ext cx="82296" cy="42062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8" name="Text 25"/>
          <p:cNvSpPr/>
          <p:nvPr/>
        </p:nvSpPr>
        <p:spPr>
          <a:xfrm>
            <a:off x="658368" y="4261104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</a:t>
            </a:r>
            <a:pPr indent="0" marL="0">
              <a:buNone/>
            </a:pPr>
            <a:r>
              <a:rPr lang="en-US" sz="1050" dirty="0">
                <a:solidFill>
                  <a:srgbClr val="E8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multi-seat upsell engine = a pooled account balance + an admin attribution surface. This is the most replicable, most monday-relevant mechanic.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 · THE NUDGE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5852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Staged threshold alerts = the upsell ladder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005840" y="2834640"/>
            <a:ext cx="1554480" cy="822960"/>
          </a:xfrm>
          <a:prstGeom prst="rect">
            <a:avLst/>
          </a:prstGeom>
          <a:solidFill>
            <a:srgbClr val="EAF8F5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28163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05840" y="37124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reminder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944368" y="2505456"/>
            <a:ext cx="1554480" cy="1152144"/>
          </a:xfrm>
          <a:prstGeom prst="rect">
            <a:avLst/>
          </a:prstGeom>
          <a:solidFill>
            <a:srgbClr val="D6F1EB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44368" y="24871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944368" y="37124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usage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882896" y="2176272"/>
            <a:ext cx="1554480" cy="1481328"/>
          </a:xfrm>
          <a:prstGeom prst="rect">
            <a:avLst/>
          </a:prstGeom>
          <a:solidFill>
            <a:srgbClr val="FDF3E2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82896" y="21579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882896" y="37124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cap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821424" y="1847088"/>
            <a:ext cx="1554480" cy="1810512"/>
          </a:xfrm>
          <a:prstGeom prst="rect">
            <a:avLst/>
          </a:prstGeom>
          <a:solidFill>
            <a:srgbClr val="FBE3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21424" y="1828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821424" y="37124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limit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005840" y="3657600"/>
            <a:ext cx="7370064" cy="0"/>
          </a:xfrm>
          <a:prstGeom prst="line">
            <a:avLst/>
          </a:prstGeom>
          <a:noFill/>
          <a:ln w="12700">
            <a:solidFill>
              <a:srgbClr val="E3E5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078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fires staged alerts: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3342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 75 / 85 / 90 / over-limit   ·   Synthesia 75 / 90 / 100   ·   Copilot 75 / 90 / 100   ·   Atlassian Rovo 80 / 100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4608576"/>
            <a:ext cx="8229600" cy="420624"/>
          </a:xfrm>
          <a:prstGeom prst="rect">
            <a:avLst/>
          </a:prstGeom>
          <a:solidFill>
            <a:srgbClr val="12132A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4608576"/>
            <a:ext cx="82296" cy="42062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3" name="Text 20"/>
          <p:cNvSpPr/>
          <p:nvPr/>
        </p:nvSpPr>
        <p:spPr>
          <a:xfrm>
            <a:off x="658368" y="4608576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</a:t>
            </a:r>
            <a:pPr indent="0" marL="0">
              <a:buNone/>
            </a:pPr>
            <a:r>
              <a:rPr lang="en-US" sz="1050" dirty="0">
                <a:solidFill>
                  <a:srgbClr val="E8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Escalating alerts manufacture the upgrade conversation before the hard wall — the single most replicable mechanic.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 · THE PROOF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5852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framing on the buying surface (rare)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2651760" cy="2331720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17320"/>
            <a:ext cx="2651760" cy="7315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591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Jasper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" y="1956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ROI tooling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22860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analytics surfaces total generations, active users, and “hours saved” — arms the budget owner directly.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36976" y="1417320"/>
            <a:ext cx="2651760" cy="2331720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36976" y="1417320"/>
            <a:ext cx="2651760" cy="73152"/>
          </a:xfrm>
          <a:prstGeom prst="rect">
            <a:avLst/>
          </a:prstGeom>
          <a:solidFill>
            <a:srgbClr val="5B5FD6"/>
          </a:solidFill>
          <a:ln/>
        </p:spPr>
      </p:sp>
      <p:sp>
        <p:nvSpPr>
          <p:cNvPr id="13" name="Text 10"/>
          <p:cNvSpPr/>
          <p:nvPr/>
        </p:nvSpPr>
        <p:spPr>
          <a:xfrm>
            <a:off x="3438144" y="1591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Copilot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438144" y="1956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5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pricing page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438144" y="22860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“55% more productive” and “75% higher job satisfaction” placed where the purchase decision happens.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16752" y="1417320"/>
            <a:ext cx="2651760" cy="2331720"/>
          </a:xfrm>
          <a:prstGeom prst="rect">
            <a:avLst/>
          </a:prstGeom>
          <a:solidFill>
            <a:srgbClr val="F4F5FB"/>
          </a:solidFill>
          <a:ln w="12700">
            <a:solidFill>
              <a:srgbClr val="E3E5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16752" y="1417320"/>
            <a:ext cx="2651760" cy="7315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1591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Anthropic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17920" y="1956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headroom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217920" y="22860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446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In-product headroom charts turn “near your limit” into an upgrade nudge; worked ROI “~$37 per 10,000 tickets.”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4069080"/>
            <a:ext cx="8229600" cy="420624"/>
          </a:xfrm>
          <a:prstGeom prst="rect">
            <a:avLst/>
          </a:prstGeom>
          <a:solidFill>
            <a:srgbClr val="12132A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4069080"/>
            <a:ext cx="82296" cy="42062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3" name="Text 20"/>
          <p:cNvSpPr/>
          <p:nvPr/>
        </p:nvSpPr>
        <p:spPr>
          <a:xfrm>
            <a:off x="658368" y="406908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</a:t>
            </a:r>
            <a:pPr indent="0" marL="0">
              <a:buNone/>
            </a:pPr>
            <a:r>
              <a:rPr lang="en-US" sz="1050" dirty="0">
                <a:solidFill>
                  <a:srgbClr val="E8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few put hard value numbers where the purchase decision happens — the dashboard is a meter, not a proof of value.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per official pricing / docs pages.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0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6576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 · THE OPPORTUNITY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70432" y="5852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gap = a value-framed notification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26 products, the admin surface is framed as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cost-control / spend-anxiety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/ ROI.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Almost no one sends a value-framed low-balance email.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188720" y="2194560"/>
            <a:ext cx="6766560" cy="1463040"/>
          </a:xfrm>
          <a:prstGeom prst="rect">
            <a:avLst/>
          </a:prstGeom>
          <a:solidFill>
            <a:srgbClr val="EAF8F5"/>
          </a:solidFill>
          <a:ln w="19050">
            <a:solidFill>
              <a:srgbClr val="00C2A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444752" y="2487168"/>
            <a:ext cx="566928" cy="566928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153" y="2634569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40280" y="23957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is paying off this month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240280" y="274320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team's credits automated 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A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1,240 tasks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saved an estimated 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A5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~63 hours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3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You're at 88% of your balance — 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09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credits to keep automations running →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88720" y="370332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— the value-framed notification almost no competitor sends today.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57200" y="4261104"/>
            <a:ext cx="8229600" cy="420624"/>
          </a:xfrm>
          <a:prstGeom prst="rect">
            <a:avLst/>
          </a:prstGeom>
          <a:solidFill>
            <a:srgbClr val="12132A"/>
          </a:solidFill>
          <a:ln/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4261104"/>
            <a:ext cx="82296" cy="42062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5" name="Text 11"/>
          <p:cNvSpPr/>
          <p:nvPr/>
        </p:nvSpPr>
        <p:spPr>
          <a:xfrm>
            <a:off x="658368" y="4261104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</a:t>
            </a:r>
            <a:pPr indent="0" marL="0">
              <a:buNone/>
            </a:pPr>
            <a:r>
              <a:rPr lang="en-US" sz="1050" dirty="0">
                <a:solidFill>
                  <a:srgbClr val="E8E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the consumption meter into a proof-of-value surface aimed at the budget owner. That is the differentiated play.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03504" cy="603504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111" y="568391"/>
            <a:ext cx="289682" cy="2896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60350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what for monday.com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420624" cy="420624"/>
          </a:xfrm>
          <a:prstGeom prst="ellipse">
            <a:avLst/>
          </a:prstGeom>
          <a:solidFill>
            <a:srgbClr val="20224A"/>
          </a:solidFill>
          <a:ln w="15875">
            <a:solidFill>
              <a:srgbClr val="5B5F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12893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063240" y="1289304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Account-level credit pool. End-users spend; admin owns budget, dashboard &amp; purchase.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984248"/>
            <a:ext cx="420624" cy="420624"/>
          </a:xfrm>
          <a:prstGeom prst="ellipse">
            <a:avLst/>
          </a:prstGeom>
          <a:solidFill>
            <a:srgbClr val="20224A"/>
          </a:solidFill>
          <a:ln w="15875">
            <a:solidFill>
              <a:srgbClr val="5B5F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05840" y="19476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behavior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063240" y="1947672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Soft-continue + overage; expose a hard cap as an admin safety (Copilot / Replit).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642616"/>
            <a:ext cx="420624" cy="420624"/>
          </a:xfrm>
          <a:prstGeom prst="ellipse">
            <a:avLst/>
          </a:prstGeom>
          <a:solidFill>
            <a:srgbClr val="20224A"/>
          </a:solidFill>
          <a:ln w="15875">
            <a:solidFill>
              <a:srgbClr val="5B5F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642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0584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unit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063240" y="2606040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credit as a monday work artifact — not an opaque “AI action.”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300984"/>
            <a:ext cx="420624" cy="420624"/>
          </a:xfrm>
          <a:prstGeom prst="ellipse">
            <a:avLst/>
          </a:prstGeom>
          <a:solidFill>
            <a:srgbClr val="00C2A8"/>
          </a:solidFill>
          <a:ln w="15875">
            <a:solidFill>
              <a:srgbClr val="00C2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300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05840" y="32644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the gap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063240" y="3264408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dashboard + value-framed low-balance email: Jasper hours-saved × HubSpot attribution × Synthesia export.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959352"/>
            <a:ext cx="420624" cy="420624"/>
          </a:xfrm>
          <a:prstGeom prst="ellipse">
            <a:avLst/>
          </a:prstGeom>
          <a:solidFill>
            <a:srgbClr val="20224A"/>
          </a:solidFill>
          <a:ln w="15875">
            <a:solidFill>
              <a:srgbClr val="5B5FD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959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05840" y="392277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auto-recharge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063240" y="3922776"/>
            <a:ext cx="562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3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true auto-reload (ElevenLabs model) — highest leverage, least adopted.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7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live screen-capture of competitor modals &amp; auto-recharge UIs · battlecard vs. a named competitor · log to monday board.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Monetizing Consumption AI</dc:title>
  <dc:subject>PptxGenJS Presentation</dc:subject>
  <dc:creator>Competitive Research</dc:creator>
  <cp:lastModifiedBy>Competitive Research</cp:lastModifiedBy>
  <cp:revision>1</cp:revision>
  <dcterms:created xsi:type="dcterms:W3CDTF">2026-06-02T15:29:10Z</dcterms:created>
  <dcterms:modified xsi:type="dcterms:W3CDTF">2026-06-02T15:29:10Z</dcterms:modified>
</cp:coreProperties>
</file>