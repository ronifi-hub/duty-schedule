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731520"/>
            <a:ext cx="2926080" cy="2926080"/>
          </a:xfrm>
          <a:prstGeom prst="ellipse">
            <a:avLst/>
          </a:prstGeom>
          <a:solidFill>
            <a:srgbClr val="0073EA">
              <a:alpha val="8000"/>
            </a:srgbClr>
          </a:solidFill>
          <a:ln w="12700">
            <a:solidFill>
              <a:srgbClr val="0073E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480560"/>
            <a:ext cx="164592" cy="164592"/>
          </a:xfrm>
          <a:prstGeom prst="ellipse">
            <a:avLst/>
          </a:prstGeom>
          <a:solidFill>
            <a:srgbClr val="E2445C"/>
          </a:solidFill>
          <a:ln w="12700">
            <a:solidFill>
              <a:srgbClr val="E244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4480560"/>
            <a:ext cx="164592" cy="164592"/>
          </a:xfrm>
          <a:prstGeom prst="ellipse">
            <a:avLst/>
          </a:prstGeom>
          <a:solidFill>
            <a:srgbClr val="FF7575"/>
          </a:solidFill>
          <a:ln w="12700">
            <a:solidFill>
              <a:srgbClr val="FF75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4480560"/>
            <a:ext cx="164592" cy="164592"/>
          </a:xfrm>
          <a:prstGeom prst="ellipse">
            <a:avLst/>
          </a:prstGeom>
          <a:solidFill>
            <a:srgbClr val="FFCB00"/>
          </a:solidFill>
          <a:ln w="12700">
            <a:solidFill>
              <a:srgbClr val="FFCB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02920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0073EA">
              <a:alpha val="12000"/>
            </a:srgbClr>
          </a:solidFill>
          <a:ln w="12700">
            <a:solidFill>
              <a:srgbClr val="007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029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 · Pricing Strategy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6583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Seats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Consumption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B2B SaaS companies move existing customers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new AI-inclusive pricing models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694176"/>
            <a:ext cx="1005840" cy="50292"/>
          </a:xfrm>
          <a:prstGeom prst="rect">
            <a:avLst/>
          </a:prstGeom>
          <a:solidFill>
            <a:srgbClr val="0073EA"/>
          </a:solidFill>
          <a:ln w="12700">
            <a:solidFill>
              <a:srgbClr val="007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4224528"/>
            <a:ext cx="2633472" cy="384048"/>
          </a:xfrm>
          <a:prstGeom prst="roundRect">
            <a:avLst>
              <a:gd name="adj" fmla="val 50000"/>
            </a:avLst>
          </a:prstGeom>
          <a:solidFill>
            <a:srgbClr val="E2445C"/>
          </a:solidFill>
          <a:ln w="12700">
            <a:solidFill>
              <a:srgbClr val="E244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224528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Renewal migration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29000" y="4224528"/>
            <a:ext cx="2633472" cy="384048"/>
          </a:xfrm>
          <a:prstGeom prst="roundRect">
            <a:avLst>
              <a:gd name="adj" fmla="val 50000"/>
            </a:avLst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4224528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embed ai for free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4224528"/>
            <a:ext cx="2633472" cy="384048"/>
          </a:xfrm>
          <a:prstGeom prst="roundRect">
            <a:avLst>
              <a:gd name="adj" fmla="val 50000"/>
            </a:avLst>
          </a:prstGeom>
          <a:solidFill>
            <a:srgbClr val="FF7575"/>
          </a:solidFill>
          <a:ln w="12700">
            <a:solidFill>
              <a:srgbClr val="FF75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4224528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hybrid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06640" y="4846320"/>
            <a:ext cx="128016" cy="128016"/>
          </a:xfrm>
          <a:prstGeom prst="ellipse">
            <a:avLst/>
          </a:prstGeom>
          <a:solidFill>
            <a:srgbClr val="E2445C"/>
          </a:solidFill>
          <a:ln w="12700">
            <a:solidFill>
              <a:srgbClr val="E244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0" y="4846320"/>
            <a:ext cx="128016" cy="128016"/>
          </a:xfrm>
          <a:prstGeom prst="ellipse">
            <a:avLst/>
          </a:prstGeom>
          <a:solidFill>
            <a:srgbClr val="FF7575"/>
          </a:solidFill>
          <a:ln w="12700">
            <a:solidFill>
              <a:srgbClr val="FF757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4846320"/>
            <a:ext cx="128016" cy="128016"/>
          </a:xfrm>
          <a:prstGeom prst="ellipse">
            <a:avLst/>
          </a:prstGeom>
          <a:solidFill>
            <a:srgbClr val="FFCB00"/>
          </a:solidFill>
          <a:ln w="12700">
            <a:solidFill>
              <a:srgbClr val="FFC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0688" y="4828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3EA"/>
          </a:solidFill>
          <a:ln w="12700">
            <a:solidFill>
              <a:srgbClr val="007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Approaches to Moving Existing Customers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strategy uses the same hook — give AI access, build dependency, then monetize. The difference is timing and who controls the forcing event.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8321040" cy="1042416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17904"/>
            <a:ext cx="45720" cy="1042416"/>
          </a:xfrm>
          <a:prstGeom prst="rect">
            <a:avLst/>
          </a:prstGeom>
          <a:solidFill>
            <a:srgbClr val="E2445C"/>
          </a:solidFill>
          <a:ln w="12700">
            <a:solidFill>
              <a:srgbClr val="E244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837944"/>
            <a:ext cx="402336" cy="402336"/>
          </a:xfrm>
          <a:prstGeom prst="ellipse">
            <a:avLst/>
          </a:prstGeom>
          <a:solidFill>
            <a:srgbClr val="E2445C">
              <a:alpha val="12000"/>
            </a:srgbClr>
          </a:solidFill>
          <a:ln w="12700">
            <a:solidFill>
              <a:srgbClr val="E244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8379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1591056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migration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80160" y="1975104"/>
            <a:ext cx="1572768" cy="219456"/>
          </a:xfrm>
          <a:prstGeom prst="roundRect">
            <a:avLst>
              <a:gd name="adj" fmla="val 50000"/>
            </a:avLst>
          </a:prstGeom>
          <a:solidFill>
            <a:srgbClr val="E2445C">
              <a:alpha val="12000"/>
            </a:srgbClr>
          </a:solidFill>
          <a:ln w="12700">
            <a:solidFill>
              <a:srgbClr val="E244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1975104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Renewal-Based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90672" y="1609344"/>
            <a:ext cx="37673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renewal, the legacy tier is retired. Customers are automatically moved to the new AI-inclusive plan — no opt-in. Monetization is immediate.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04304" y="1609344"/>
            <a:ext cx="13716" cy="804672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14032" y="1609344"/>
            <a:ext cx="16642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6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 ·  Google Workspace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6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 ·  Zendesk  ·  HubSpot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688336"/>
            <a:ext cx="8321040" cy="1042416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688336"/>
            <a:ext cx="45720" cy="1042416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008376"/>
            <a:ext cx="402336" cy="402336"/>
          </a:xfrm>
          <a:prstGeom prst="ellipse">
            <a:avLst/>
          </a:prstGeom>
          <a:solidFill>
            <a:srgbClr val="00C875">
              <a:alpha val="12000"/>
            </a:srgbClr>
          </a:solidFill>
          <a:ln w="12700">
            <a:solidFill>
              <a:srgbClr val="00C8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0083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80160" y="2761488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ai for free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80160" y="3145536"/>
            <a:ext cx="1572768" cy="219456"/>
          </a:xfrm>
          <a:prstGeom prst="roundRect">
            <a:avLst>
              <a:gd name="adj" fmla="val 50000"/>
            </a:avLst>
          </a:prstGeom>
          <a:solidFill>
            <a:srgbClr val="00C875">
              <a:alpha val="12000"/>
            </a:srgbClr>
          </a:solidFill>
          <a:ln w="12700">
            <a:solidFill>
              <a:srgbClr val="00C8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3145536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Enforcement-Based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90672" y="2779776"/>
            <a:ext cx="37673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credits added silently to every seat at no cost. No enforcement during adoption. A deadline is announced months in advance — then counting begins.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04304" y="2779776"/>
            <a:ext cx="13716" cy="804672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14032" y="2779776"/>
            <a:ext cx="16642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6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 ·  Atlassian Rovo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858768"/>
            <a:ext cx="8321040" cy="1042416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858768"/>
            <a:ext cx="45720" cy="1042416"/>
          </a:xfrm>
          <a:prstGeom prst="rect">
            <a:avLst/>
          </a:prstGeom>
          <a:solidFill>
            <a:srgbClr val="FF7575"/>
          </a:solidFill>
          <a:ln w="12700">
            <a:solidFill>
              <a:srgbClr val="FF757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4178808"/>
            <a:ext cx="402336" cy="402336"/>
          </a:xfrm>
          <a:prstGeom prst="ellipse">
            <a:avLst/>
          </a:prstGeom>
          <a:solidFill>
            <a:srgbClr val="FF7575">
              <a:alpha val="12000"/>
            </a:srgbClr>
          </a:solidFill>
          <a:ln w="12700">
            <a:solidFill>
              <a:srgbClr val="FF75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41788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80160" y="393192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80160" y="4315968"/>
            <a:ext cx="1572768" cy="219456"/>
          </a:xfrm>
          <a:prstGeom prst="roundRect">
            <a:avLst>
              <a:gd name="adj" fmla="val 50000"/>
            </a:avLst>
          </a:prstGeom>
          <a:solidFill>
            <a:srgbClr val="FF7575">
              <a:alpha val="12000"/>
            </a:srgbClr>
          </a:solidFill>
          <a:ln w="12700">
            <a:solidFill>
              <a:srgbClr val="FF75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" y="4315968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Segment-Based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090672" y="3950208"/>
            <a:ext cx="37673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tiers hit a paywall — upgrade required. Higher tiers get AI free first, then face enforcement. Two experiences, one product.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04304" y="3950208"/>
            <a:ext cx="13716" cy="804672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14032" y="3950208"/>
            <a:ext cx="16642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6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406640" y="4846320"/>
            <a:ext cx="128016" cy="128016"/>
          </a:xfrm>
          <a:prstGeom prst="ellipse">
            <a:avLst/>
          </a:prstGeom>
          <a:solidFill>
            <a:srgbClr val="E2445C"/>
          </a:solidFill>
          <a:ln w="12700">
            <a:solidFill>
              <a:srgbClr val="E244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0" y="4846320"/>
            <a:ext cx="128016" cy="128016"/>
          </a:xfrm>
          <a:prstGeom prst="ellipse">
            <a:avLst/>
          </a:prstGeom>
          <a:solidFill>
            <a:srgbClr val="FF7575"/>
          </a:solidFill>
          <a:ln w="12700">
            <a:solidFill>
              <a:srgbClr val="FF757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0" y="4846320"/>
            <a:ext cx="128016" cy="128016"/>
          </a:xfrm>
          <a:prstGeom prst="ellipse">
            <a:avLst/>
          </a:prstGeom>
          <a:solidFill>
            <a:srgbClr val="FFCB00"/>
          </a:solidFill>
          <a:ln w="12700">
            <a:solidFill>
              <a:srgbClr val="FFCB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90688" y="4828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3" name="Image 0" descr="/sessions/happy-gallant-tesla/logo_fig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01168"/>
            <a:ext cx="457200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256032"/>
            <a:ext cx="1920240" cy="256032"/>
          </a:xfrm>
          <a:prstGeom prst="roundRect">
            <a:avLst>
              <a:gd name="adj" fmla="val 50000"/>
            </a:avLst>
          </a:prstGeom>
          <a:solidFill>
            <a:srgbClr val="7B61FF">
              <a:alpha val="12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2560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ai for free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594360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1261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ai for free · Enforcement-Based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627632"/>
            <a:ext cx="832104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828800"/>
            <a:ext cx="45720" cy="74980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1828800"/>
            <a:ext cx="8001000" cy="749808"/>
          </a:xfrm>
          <a:prstGeom prst="roundRect">
            <a:avLst>
              <a:gd name="adj" fmla="val 12195"/>
            </a:avLst>
          </a:prstGeom>
          <a:solidFill>
            <a:srgbClr val="7B61FF">
              <a:alpha val="7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1847088"/>
            <a:ext cx="7635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added 3,000 AI credits to every seat — no announcement, no price change. Gave it free for 2.5 years, then started counting.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1097280" y="3227832"/>
            <a:ext cx="5541264" cy="27432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41832" y="3081528"/>
            <a:ext cx="310896" cy="310896"/>
          </a:xfrm>
          <a:prstGeom prst="ellipse">
            <a:avLst/>
          </a:prstGeom>
          <a:solidFill>
            <a:srgbClr val="0ACF83"/>
          </a:solidFill>
          <a:ln w="12700">
            <a:solidFill>
              <a:srgbClr val="0ACF8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2880" y="268833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C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2023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82880" y="34747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added silently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82880" y="3785616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3,000/seat — no announcement, no price change.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788920" y="3081528"/>
            <a:ext cx="310896" cy="310896"/>
          </a:xfrm>
          <a:prstGeom prst="ellipse">
            <a:avLst/>
          </a:prstGeom>
          <a:solidFill>
            <a:srgbClr val="1ABCFE"/>
          </a:solidFill>
          <a:ln w="12700">
            <a:solidFill>
              <a:srgbClr val="1ABCF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029968" y="268833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B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2023 – Feb 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29968" y="34747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free usage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029968" y="3785616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internally, never enforced. Habit built across teams.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636008" y="3081528"/>
            <a:ext cx="310896" cy="310896"/>
          </a:xfrm>
          <a:prstGeom prst="ellipse">
            <a:avLst/>
          </a:prstGeom>
          <a:solidFill>
            <a:srgbClr val="FF7262"/>
          </a:solidFill>
          <a:ln w="12700">
            <a:solidFill>
              <a:srgbClr val="FF726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77056" y="268833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877056" y="34747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announced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877056" y="3785616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In-product banners + email sent 4 months before deadline.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483096" y="3081528"/>
            <a:ext cx="310896" cy="310896"/>
          </a:xfrm>
          <a:prstGeom prst="ellipse">
            <a:avLst/>
          </a:prstGeom>
          <a:solidFill>
            <a:srgbClr val="F24E1E"/>
          </a:solidFill>
          <a:ln w="12700">
            <a:solidFill>
              <a:srgbClr val="F24E1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724144" y="268833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4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18, 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724144" y="34747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begins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724144" y="3785616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 3,000/seat → AI paused. Add-on credits available.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48640" y="44622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6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figma.com/blog/introducing-ai-credits  ·  help.figma.com → AI credits  ·  techcrunch.com/2026/03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48640" y="4681728"/>
            <a:ext cx="8046720" cy="347472"/>
          </a:xfrm>
          <a:prstGeom prst="roundRect">
            <a:avLst>
              <a:gd name="adj" fmla="val 26316"/>
            </a:avLst>
          </a:prstGeom>
          <a:solidFill>
            <a:srgbClr val="7B61FF">
              <a:alpha val="1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" y="4700016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commercial event — customers were already in the new model before pricing enforcement began.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pic>
        <p:nvPicPr>
          <p:cNvPr id="3" name="Image 0" descr="/sessions/happy-gallant-tesla/logo_hubsp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01168"/>
            <a:ext cx="50292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256032"/>
            <a:ext cx="1920240" cy="256032"/>
          </a:xfrm>
          <a:prstGeom prst="roundRect">
            <a:avLst>
              <a:gd name="adj" fmla="val 50000"/>
            </a:avLst>
          </a:prstGeom>
          <a:solidFill>
            <a:srgbClr val="FF7A59">
              <a:alpha val="12000"/>
            </a:srgbClr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2560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migration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594360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1261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migration · Renewal-Based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627632"/>
            <a:ext cx="832104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828800"/>
            <a:ext cx="45720" cy="749808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1828800"/>
            <a:ext cx="8001000" cy="749808"/>
          </a:xfrm>
          <a:prstGeom prst="roundRect">
            <a:avLst>
              <a:gd name="adj" fmla="val 12195"/>
            </a:avLst>
          </a:prstGeom>
          <a:solidFill>
            <a:srgbClr val="FF7A59">
              <a:alpha val="7000"/>
            </a:srgbClr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1847088"/>
            <a:ext cx="7635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 legacy SKUs at renewal — customers auto-migrated to AI-inclusive plans with no opt-out, at 20–30% higher price.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868680" y="3209544"/>
            <a:ext cx="6949440" cy="27432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22376" y="3072384"/>
            <a:ext cx="292608" cy="292608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" y="268833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2024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5720" y="343814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Breeze AI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322576" y="3072384"/>
            <a:ext cx="292608" cy="292608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0" y="268833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mo. before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645920" y="343814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sent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05656" y="3072384"/>
            <a:ext cx="292608" cy="292608"/>
          </a:xfrm>
          <a:prstGeom prst="ellipse">
            <a:avLst/>
          </a:prstGeom>
          <a:solidFill>
            <a:srgbClr val="E2445C"/>
          </a:solidFill>
          <a:ln w="12700">
            <a:solidFill>
              <a:srgbClr val="E244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29000" y="268833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date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429000" y="343814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888736" y="3072384"/>
            <a:ext cx="292608" cy="292608"/>
          </a:xfrm>
          <a:prstGeom prst="ellipse">
            <a:avLst/>
          </a:prstGeom>
          <a:solidFill>
            <a:srgbClr val="E2445C"/>
          </a:solidFill>
          <a:ln w="12700">
            <a:solidFill>
              <a:srgbClr val="E244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12080" y="268833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212080" y="343814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AI tier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671816" y="3072384"/>
            <a:ext cx="292608" cy="292608"/>
          </a:xfrm>
          <a:prstGeom prst="ellipse">
            <a:avLst/>
          </a:prstGeom>
          <a:solidFill>
            <a:srgbClr val="E2445C"/>
          </a:solidFill>
          <a:ln w="12700">
            <a:solidFill>
              <a:srgbClr val="E2445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95160" y="268833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+20–30%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995160" y="343814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44622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6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hubspot.com/products/artificial-intelligence  ·  blog.hubspot.com/marketing/hubspot-pricing-changes  ·  techcrunch.com/2024/09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48640" y="4681728"/>
            <a:ext cx="8046720" cy="347472"/>
          </a:xfrm>
          <a:prstGeom prst="roundRect">
            <a:avLst>
              <a:gd name="adj" fmla="val 26316"/>
            </a:avLst>
          </a:prstGeom>
          <a:solidFill>
            <a:srgbClr val="FF7A59">
              <a:alpha val="10000"/>
            </a:srgbClr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3232" y="4700016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is the forcing event — the moment legacy pricing ends, the new model begins. No customer can opt out.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7352F"/>
          </a:solidFill>
          <a:ln w="12700">
            <a:solidFill>
              <a:srgbClr val="37352F"/>
            </a:solidFill>
            <a:prstDash val="solid"/>
          </a:ln>
        </p:spPr>
      </p:sp>
      <p:pic>
        <p:nvPicPr>
          <p:cNvPr id="3" name="Image 0" descr="/sessions/happy-gallant-tesla/logo_no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01168"/>
            <a:ext cx="50292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256032"/>
            <a:ext cx="1920240" cy="256032"/>
          </a:xfrm>
          <a:prstGeom prst="roundRect">
            <a:avLst>
              <a:gd name="adj" fmla="val 50000"/>
            </a:avLst>
          </a:prstGeom>
          <a:solidFill>
            <a:srgbClr val="37352F">
              <a:alpha val="12000"/>
            </a:srgbClr>
          </a:solidFill>
          <a:ln w="12700">
            <a:solidFill>
              <a:srgbClr val="37352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2560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594360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1261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· Segment-Based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627632"/>
            <a:ext cx="832104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828800"/>
            <a:ext cx="45720" cy="749808"/>
          </a:xfrm>
          <a:prstGeom prst="rect">
            <a:avLst/>
          </a:prstGeom>
          <a:solidFill>
            <a:srgbClr val="37352F"/>
          </a:solidFill>
          <a:ln w="12700">
            <a:solidFill>
              <a:srgbClr val="37352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1828800"/>
            <a:ext cx="8001000" cy="749808"/>
          </a:xfrm>
          <a:prstGeom prst="roundRect">
            <a:avLst>
              <a:gd name="adj" fmla="val 12195"/>
            </a:avLst>
          </a:prstGeom>
          <a:solidFill>
            <a:srgbClr val="37352F">
              <a:alpha val="7000"/>
            </a:srgbClr>
          </a:solidFill>
          <a:ln w="12700">
            <a:solidFill>
              <a:srgbClr val="37352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1847088"/>
            <a:ext cx="7635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Plus hit a hard paywall. Business &amp; Enterprise got AI free first, then enforcement. Two strategies — one product.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548640" y="2715768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2715768"/>
            <a:ext cx="3840480" cy="36576"/>
          </a:xfrm>
          <a:prstGeom prst="rect">
            <a:avLst/>
          </a:prstGeom>
          <a:solidFill>
            <a:srgbClr val="D44C47"/>
          </a:solidFill>
          <a:ln w="12700">
            <a:solidFill>
              <a:srgbClr val="D44C4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27797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Plus plans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79776" y="2798064"/>
            <a:ext cx="1426464" cy="219456"/>
          </a:xfrm>
          <a:prstGeom prst="roundRect">
            <a:avLst>
              <a:gd name="adj" fmla="val 50000"/>
            </a:avLst>
          </a:prstGeom>
          <a:solidFill>
            <a:srgbClr val="D44C47">
              <a:alpha val="12000"/>
            </a:srgbClr>
          </a:solidFill>
          <a:ln w="12700">
            <a:solidFill>
              <a:srgbClr val="D44C4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79776" y="2798064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migration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32688" y="3127248"/>
            <a:ext cx="10973" cy="1170432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8680" y="3127248"/>
            <a:ext cx="146304" cy="146304"/>
          </a:xfrm>
          <a:prstGeom prst="ellipse">
            <a:avLst/>
          </a:prstGeom>
          <a:solidFill>
            <a:srgbClr val="D44C47"/>
          </a:solidFill>
          <a:ln w="12700">
            <a:solidFill>
              <a:srgbClr val="D44C4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06424" y="3108960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 launched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779776" y="3108960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Business+ only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68680" y="3438144"/>
            <a:ext cx="146304" cy="146304"/>
          </a:xfrm>
          <a:prstGeom prst="ellipse">
            <a:avLst/>
          </a:prstGeom>
          <a:solidFill>
            <a:srgbClr val="D44C47"/>
          </a:solidFill>
          <a:ln w="12700">
            <a:solidFill>
              <a:srgbClr val="D44C4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06424" y="3419856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Free/Plus users blocked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779776" y="3419856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access at any price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8680" y="3749040"/>
            <a:ext cx="146304" cy="146304"/>
          </a:xfrm>
          <a:prstGeom prst="ellipse">
            <a:avLst/>
          </a:prstGeom>
          <a:solidFill>
            <a:srgbClr val="D44C47"/>
          </a:solidFill>
          <a:ln w="12700">
            <a:solidFill>
              <a:srgbClr val="D44C4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06424" y="3730752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CTA shown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2779776" y="3730752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In-product paywall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68680" y="4059936"/>
            <a:ext cx="146304" cy="146304"/>
          </a:xfrm>
          <a:prstGeom prst="ellipse">
            <a:avLst/>
          </a:prstGeom>
          <a:solidFill>
            <a:srgbClr val="D44C47"/>
          </a:solidFill>
          <a:ln w="12700">
            <a:solidFill>
              <a:srgbClr val="D44C4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06424" y="4041648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= new contract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2779776" y="4041648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AI credits included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617720" y="2715768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17720" y="2715768"/>
            <a:ext cx="3840480" cy="36576"/>
          </a:xfrm>
          <a:prstGeom prst="rect">
            <a:avLst/>
          </a:prstGeom>
          <a:solidFill>
            <a:srgbClr val="37352F"/>
          </a:solidFill>
          <a:ln w="12700">
            <a:solidFill>
              <a:srgbClr val="37352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82312" y="27797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848856" y="2798064"/>
            <a:ext cx="1426464" cy="219456"/>
          </a:xfrm>
          <a:prstGeom prst="roundRect">
            <a:avLst>
              <a:gd name="adj" fmla="val 50000"/>
            </a:avLst>
          </a:prstGeom>
          <a:solidFill>
            <a:srgbClr val="37352F">
              <a:alpha val="12000"/>
            </a:srgbClr>
          </a:solidFill>
          <a:ln w="12700">
            <a:solidFill>
              <a:srgbClr val="37352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48856" y="2798064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ai for free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001768" y="3127248"/>
            <a:ext cx="10973" cy="1170432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937760" y="3127248"/>
            <a:ext cx="146304" cy="146304"/>
          </a:xfrm>
          <a:prstGeom prst="ellipse">
            <a:avLst/>
          </a:prstGeom>
          <a:solidFill>
            <a:srgbClr val="37352F"/>
          </a:solidFill>
          <a:ln w="12700">
            <a:solidFill>
              <a:srgbClr val="37352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175504" y="3108960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added silently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848856" y="3108960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price change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937760" y="3438144"/>
            <a:ext cx="146304" cy="146304"/>
          </a:xfrm>
          <a:prstGeom prst="ellipse">
            <a:avLst/>
          </a:prstGeom>
          <a:solidFill>
            <a:srgbClr val="37352F"/>
          </a:solidFill>
          <a:ln w="12700">
            <a:solidFill>
              <a:srgbClr val="37352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75504" y="3419856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usage period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848856" y="3419856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May 4, 2026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937760" y="3749040"/>
            <a:ext cx="146304" cy="146304"/>
          </a:xfrm>
          <a:prstGeom prst="ellipse">
            <a:avLst/>
          </a:prstGeom>
          <a:solidFill>
            <a:srgbClr val="37352F"/>
          </a:solidFill>
          <a:ln w="12700">
            <a:solidFill>
              <a:srgbClr val="37352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175504" y="3730752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announced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6848856" y="3730752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in advance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4937760" y="4059936"/>
            <a:ext cx="146304" cy="146304"/>
          </a:xfrm>
          <a:prstGeom prst="ellipse">
            <a:avLst/>
          </a:prstGeom>
          <a:solidFill>
            <a:srgbClr val="37352F"/>
          </a:solidFill>
          <a:ln w="12700">
            <a:solidFill>
              <a:srgbClr val="37352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175504" y="4041648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begins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6848856" y="4041648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4, 2026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548640" y="44622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6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notion.so/blog/notion-ai  ·  notion.so/help/notion-ai  ·  techcrunch.com/2025/01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548640" y="4681728"/>
            <a:ext cx="8046720" cy="347472"/>
          </a:xfrm>
          <a:prstGeom prst="roundRect">
            <a:avLst>
              <a:gd name="adj" fmla="val 26316"/>
            </a:avLst>
          </a:prstGeom>
          <a:solidFill>
            <a:srgbClr val="37352F">
              <a:alpha val="10000"/>
            </a:srgbClr>
          </a:solidFill>
          <a:ln w="12700">
            <a:solidFill>
              <a:srgbClr val="37352F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13232" y="4700016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product, two migration strategies. Tier determines which approach the customer experiences.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3EA"/>
          </a:solidFill>
          <a:ln w="12700">
            <a:solidFill>
              <a:srgbClr val="007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2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8686800" cy="329184"/>
          </a:xfrm>
          <a:prstGeom prst="rect">
            <a:avLst/>
          </a:prstGeom>
          <a:solidFill>
            <a:srgbClr val="0073EA"/>
          </a:solidFill>
          <a:ln w="12700">
            <a:solidFill>
              <a:srgbClr val="007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41248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01952" y="8412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move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83280" y="841248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monetized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0" y="84124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Communication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59168" y="841248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170432"/>
            <a:ext cx="8686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170432"/>
            <a:ext cx="45720" cy="896112"/>
          </a:xfrm>
          <a:prstGeom prst="rect">
            <a:avLst/>
          </a:prstGeom>
          <a:solidFill>
            <a:srgbClr val="E2445C"/>
          </a:solidFill>
          <a:ln w="12700">
            <a:solidFill>
              <a:srgbClr val="E244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252728"/>
            <a:ext cx="1335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E2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Renewal migration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01952" y="1252728"/>
            <a:ext cx="12618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Auto-moved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renewal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1252728"/>
            <a:ext cx="1243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renewal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252728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retirement email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before renewal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59168" y="1252728"/>
            <a:ext cx="1664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Slack, HubSpot,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Salesforce, Zendesk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130552"/>
            <a:ext cx="8686800" cy="896112"/>
          </a:xfrm>
          <a:prstGeom prst="rect">
            <a:avLst/>
          </a:prstGeom>
          <a:solidFill>
            <a:srgbClr val="EEF2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2130552"/>
            <a:ext cx="45720" cy="896112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212848"/>
            <a:ext cx="1335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embed ai for free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01952" y="2212848"/>
            <a:ext cx="12618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Auto-moved,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first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2212848"/>
            <a:ext cx="1243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enforcement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212848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In-product credit tracker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advance notice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59168" y="2212848"/>
            <a:ext cx="1664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Figma,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3090672"/>
            <a:ext cx="8686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3090672"/>
            <a:ext cx="45720" cy="896112"/>
          </a:xfrm>
          <a:prstGeom prst="rect">
            <a:avLst/>
          </a:prstGeom>
          <a:solidFill>
            <a:srgbClr val="FF7575"/>
          </a:solidFill>
          <a:ln w="12700">
            <a:solidFill>
              <a:srgbClr val="FF75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172968"/>
            <a:ext cx="1335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hybrid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01952" y="3172968"/>
            <a:ext cx="12618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tier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3172968"/>
            <a:ext cx="1243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or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(tier)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172968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gate (lower) +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warning (higher)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59168" y="3172968"/>
            <a:ext cx="1664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4050792"/>
            <a:ext cx="8686800" cy="896112"/>
          </a:xfrm>
          <a:prstGeom prst="rect">
            <a:avLst/>
          </a:prstGeom>
          <a:solidFill>
            <a:srgbClr val="EEF2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" y="4050792"/>
            <a:ext cx="45720" cy="896112"/>
          </a:xfrm>
          <a:prstGeom prst="rect">
            <a:avLst/>
          </a:prstGeom>
          <a:solidFill>
            <a:srgbClr val="0073EA"/>
          </a:solidFill>
          <a:ln w="12700">
            <a:solidFill>
              <a:srgbClr val="0073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4133088"/>
            <a:ext cx="1335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07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901952" y="4133088"/>
            <a:ext cx="12618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mandatory.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Existing: voluntary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83280" y="4133088"/>
            <a:ext cx="1243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now.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Existing: TBD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4133088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flow (new).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Team (existing)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59168" y="4133088"/>
            <a:ext cx="1664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renewal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06640" y="4846320"/>
            <a:ext cx="128016" cy="128016"/>
          </a:xfrm>
          <a:prstGeom prst="ellipse">
            <a:avLst/>
          </a:prstGeom>
          <a:solidFill>
            <a:srgbClr val="E2445C"/>
          </a:solidFill>
          <a:ln w="12700">
            <a:solidFill>
              <a:srgbClr val="E244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89520" y="4846320"/>
            <a:ext cx="128016" cy="128016"/>
          </a:xfrm>
          <a:prstGeom prst="ellipse">
            <a:avLst/>
          </a:prstGeom>
          <a:solidFill>
            <a:srgbClr val="FF7575"/>
          </a:solidFill>
          <a:ln w="12700">
            <a:solidFill>
              <a:srgbClr val="FF757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72400" y="4846320"/>
            <a:ext cx="128016" cy="128016"/>
          </a:xfrm>
          <a:prstGeom prst="ellipse">
            <a:avLst/>
          </a:prstGeom>
          <a:solidFill>
            <a:srgbClr val="FFCB00"/>
          </a:solidFill>
          <a:ln w="12700">
            <a:solidFill>
              <a:srgbClr val="FFCB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90688" y="4828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7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Seats to Consumption</dc:title>
  <dc:subject>PptxGenJS Presentation</dc:subject>
  <dc:creator>PptxGenJS</dc:creator>
  <cp:lastModifiedBy>PptxGenJS</cp:lastModifiedBy>
  <cp:revision>1</cp:revision>
  <dcterms:created xsi:type="dcterms:W3CDTF">2026-05-18T12:21:15Z</dcterms:created>
  <dcterms:modified xsi:type="dcterms:W3CDTF">2026-05-18T12:21:15Z</dcterms:modified>
</cp:coreProperties>
</file>